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1" r:id="rId6"/>
    <p:sldId id="270" r:id="rId7"/>
    <p:sldId id="269" r:id="rId8"/>
    <p:sldId id="268" r:id="rId9"/>
    <p:sldId id="267" r:id="rId10"/>
    <p:sldId id="272" r:id="rId11"/>
    <p:sldId id="266" r:id="rId12"/>
    <p:sldId id="265" r:id="rId13"/>
    <p:sldId id="264" r:id="rId14"/>
    <p:sldId id="263" r:id="rId15"/>
    <p:sldId id="262" r:id="rId16"/>
    <p:sldId id="273" r:id="rId1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D4BB-E41C-5F08-35C9-F18A79DF9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4370A-293A-61AE-94D3-419A9468F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85998-7320-E272-4641-740643CC9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A1C8-9344-7637-2ECE-D04FDBEB3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BEE1-F275-0214-494A-C9326BCA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0628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985E-4A0A-AAD4-9925-0B2D8E44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8C35C-418D-D6FA-91AC-0A5480556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AE3D5-006C-348E-F6AE-288A4C4A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7107-6C55-3320-E681-F96B0F70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6C530-41D6-5821-6EF6-E519107C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1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5F4A-4587-B5C5-DE29-59511E353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BCF3F-20F1-0CD0-80B6-15F8B7FA1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42D92-EA6A-F036-5944-258041BE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2509-A051-EAAF-4525-12806723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87074-A337-49FF-F85A-19C0D2D34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151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B5A0-A3D1-FF1B-F12D-77D32D0CE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419AC-9E58-994C-78AE-57C5D336E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54A7C-D5C8-D96F-21BE-9E4A5D3FC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2F658-BC9D-0E5E-6A54-2777A294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48886-0635-6528-6B9D-D9FD95FA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E700F-B0CD-9DA4-B962-D2AA7C25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8051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6331-FAD2-3C03-06D5-2A4B12EB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66BDF-7EC2-769F-7654-D128E7102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DB580-784F-B336-261C-58D647778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BDD6C-0F5F-B4CC-450E-F4E146498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8948E-726E-3A43-7AAA-8AB0FD91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1CED0-F40B-7442-A6F6-19C7D976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15CE6-E3A4-B462-D4BF-5AB184561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1F3B4-D4D4-D03A-D84C-819ED095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34241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7466-5A70-A8E7-52BF-4DBBED68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11271-2FB1-773C-EFC0-398691BC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D5AFD6-A940-1F61-8279-2FE1E9D1D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86A0-4651-AD18-43D3-78570EDC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84532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13B9F-AC4F-A361-0BF3-497A311B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A3C0C-DD0B-A0CE-A89B-F66CDDB5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D2B9F-AC87-A0F1-FC63-4C74687C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7578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6032-50CB-181D-6CF4-624DE16D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D9AFE-777F-B77C-111D-C7A338EB2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A16E2-1320-EB41-82FC-21723DE91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F7FF2-5023-06DD-A4EC-F3334821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0DA33-CBC7-C3A5-C30D-8BC6701C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FB179-CF1A-280C-3584-69D1895D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58957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8681-C548-1D19-10F8-880C8B70E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9D33CD-BD4C-30E0-F78C-6C3F6BC94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D689D-6C52-4F8E-8114-B9DB1B419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00F1A-D11B-57BF-FF6A-E4A5223D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2B00C-E7AB-A8A7-6046-80A7B991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2B232-4472-EEEE-3CF9-8A95ABBB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6799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90F3-A1CE-BA7F-5816-9F8716CE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5BFB4-E2C6-334E-D43F-ECD55AACD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EDFA9-5446-E92E-00D3-AFEE06817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46D17-8B4C-EA3D-C2F4-DE75C869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FEA1B-88A4-F279-868B-A7A7BE06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611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B9651F-15F0-4AE9-CABA-A9B2AF720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154F7-C899-155D-EACC-1E9C60C67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36A37-32A7-9173-1F82-84B75E8A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CAFCA-333F-06DB-1A92-E690E48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8FDE3-8E40-9CBB-5D0A-488626E7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425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50C1A-CA3D-4811-A1ED-0D262B1BE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AD7A-5450-0B58-A175-7AEBE5A7C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7BB81-CC6D-CC8B-84C9-8012D3FBB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3F5A0-3D41-4A9A-8751-A0756BF47426}" type="datetimeFigureOut">
              <a:rPr lang="vi-VN" smtClean="0"/>
              <a:t>12/03/2026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3A57-30B0-84B5-8275-82591A0F5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C5A98-9061-F466-0715-9EBE0948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B06CA9-E3B0-0974-A4AC-E6636B4B67C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21225" y="28246"/>
            <a:ext cx="1770775" cy="99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AC3386-C39D-C021-47D6-1E4637673ABF}"/>
              </a:ext>
            </a:extLst>
          </p:cNvPr>
          <p:cNvSpPr txBox="1"/>
          <p:nvPr/>
        </p:nvSpPr>
        <p:spPr>
          <a:xfrm>
            <a:off x="2054679" y="25622"/>
            <a:ext cx="8082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all" dirty="0">
                <a:latin typeface="+mj-lt"/>
              </a:rPr>
              <a:t>University of science and technology of Hanoi</a:t>
            </a:r>
          </a:p>
          <a:p>
            <a:pPr algn="ctr"/>
            <a:r>
              <a:rPr lang="en-US" dirty="0">
                <a:latin typeface="+mj-lt"/>
              </a:rPr>
              <a:t>DEPARTMENT OF INFORMATION COMMUNICATION AND TECHNOLOGY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594C2-1138-8308-ADDE-A565EC08D05F}"/>
              </a:ext>
            </a:extLst>
          </p:cNvPr>
          <p:cNvSpPr txBox="1"/>
          <p:nvPr/>
        </p:nvSpPr>
        <p:spPr>
          <a:xfrm>
            <a:off x="5333082" y="3179820"/>
            <a:ext cx="1878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 err="1">
                <a:latin typeface="+mj-lt"/>
              </a:rPr>
              <a:t>Team</a:t>
            </a:r>
            <a:r>
              <a:rPr lang="vi-VN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SkyDom</a:t>
            </a:r>
            <a:r>
              <a:rPr lang="en-US" dirty="0">
                <a:latin typeface="+mj-lt"/>
              </a:rPr>
              <a:t>+</a:t>
            </a:r>
            <a:endParaRPr lang="vi-VN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BC9F1-0F8F-7B98-66FA-7FEDB0D252BB}"/>
              </a:ext>
            </a:extLst>
          </p:cNvPr>
          <p:cNvSpPr txBox="1"/>
          <p:nvPr/>
        </p:nvSpPr>
        <p:spPr>
          <a:xfrm>
            <a:off x="4028462" y="1072063"/>
            <a:ext cx="4135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/>
              <a:t>Natural Language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DF769-31D2-40BD-64D2-F7FF24D1361E}"/>
              </a:ext>
            </a:extLst>
          </p:cNvPr>
          <p:cNvSpPr txBox="1"/>
          <p:nvPr/>
        </p:nvSpPr>
        <p:spPr>
          <a:xfrm>
            <a:off x="1833630" y="1472173"/>
            <a:ext cx="8877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/>
              <a:t>Sentiment Analysis and Multi-label Issue Extraction for E-commerce Reviews</a:t>
            </a:r>
          </a:p>
        </p:txBody>
      </p:sp>
    </p:spTree>
    <p:extLst>
      <p:ext uri="{BB962C8B-B14F-4D97-AF65-F5344CB8AC3E}">
        <p14:creationId xmlns:p14="http://schemas.microsoft.com/office/powerpoint/2010/main" val="217541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D413A9-D530-1F01-7C1A-A665947D1569}"/>
              </a:ext>
            </a:extLst>
          </p:cNvPr>
          <p:cNvSpPr txBox="1"/>
          <p:nvPr/>
        </p:nvSpPr>
        <p:spPr>
          <a:xfrm>
            <a:off x="331237" y="0"/>
            <a:ext cx="60369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Group Member</a:t>
            </a:r>
            <a:endParaRPr lang="vi-VN" sz="4400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C8A54C-399B-F114-9958-CF1F27818C69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382F69-AA0A-E8C3-5E4D-44FC8F4C20C4}"/>
              </a:ext>
            </a:extLst>
          </p:cNvPr>
          <p:cNvSpPr txBox="1"/>
          <p:nvPr/>
        </p:nvSpPr>
        <p:spPr>
          <a:xfrm>
            <a:off x="438539" y="746449"/>
            <a:ext cx="6153538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Le Duc An – 22BA13002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Bui The Anh – 22BA13007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Do Gia Bao – 22BA13042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Tran Hien Chuong – 22BA13056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Nguyen Nhu Tien Tuan – 22BA13314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Pham Quang Tung – 22BA13320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Khuong Bao Duc – 22BA13077</a:t>
            </a:r>
            <a:endParaRPr lang="vi-V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483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0C84D9-65AE-024C-9E01-B7A24DD6F881}"/>
              </a:ext>
            </a:extLst>
          </p:cNvPr>
          <p:cNvSpPr txBox="1"/>
          <p:nvPr/>
        </p:nvSpPr>
        <p:spPr>
          <a:xfrm>
            <a:off x="438539" y="0"/>
            <a:ext cx="3231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Table of Contents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F36E7F-7E5E-986B-8D0B-87825E255D99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6D09463-D5E2-21C7-CC9A-0CE13879D61E}"/>
              </a:ext>
            </a:extLst>
          </p:cNvPr>
          <p:cNvSpPr txBox="1"/>
          <p:nvPr/>
        </p:nvSpPr>
        <p:spPr>
          <a:xfrm>
            <a:off x="438539" y="769441"/>
            <a:ext cx="532870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/>
              <a:t>Introduction and NLP Problem Definition</a:t>
            </a:r>
          </a:p>
          <a:p>
            <a:r>
              <a:rPr dirty="0"/>
              <a:t>Data and Label Strategy</a:t>
            </a:r>
          </a:p>
          <a:p>
            <a:r>
              <a:rPr dirty="0"/>
              <a:t>Text Processing and Feature Engineering</a:t>
            </a:r>
          </a:p>
          <a:p>
            <a:r>
              <a:rPr dirty="0"/>
              <a:t>Modeling and Baselines (Classic + Transformer)</a:t>
            </a:r>
          </a:p>
          <a:p>
            <a:r>
              <a:rPr dirty="0"/>
              <a:t>Experimental Protocol</a:t>
            </a:r>
          </a:p>
          <a:p>
            <a:r>
              <a:rPr dirty="0"/>
              <a:t>Results: Sentiment</a:t>
            </a:r>
          </a:p>
          <a:p>
            <a:r>
              <a:rPr dirty="0"/>
              <a:t>Results: Issue Extraction</a:t>
            </a:r>
          </a:p>
          <a:p>
            <a:r>
              <a:rPr dirty="0"/>
              <a:t>Error Analysis and Thresholding</a:t>
            </a:r>
          </a:p>
          <a:p>
            <a:r>
              <a:rPr dirty="0"/>
              <a:t>Course Alignment and Rubric Fit</a:t>
            </a:r>
          </a:p>
          <a:p>
            <a:r>
              <a:rPr dirty="0"/>
              <a:t>Demo and Deployment</a:t>
            </a:r>
          </a:p>
          <a:p>
            <a:r>
              <a:rPr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5477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9C15CDE-847C-41D3-185A-DD0FED569744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990A5D-0242-AB17-FAD2-B7B3C792C472}"/>
              </a:ext>
            </a:extLst>
          </p:cNvPr>
          <p:cNvSpPr txBox="1"/>
          <p:nvPr/>
        </p:nvSpPr>
        <p:spPr>
          <a:xfrm>
            <a:off x="363894" y="23173"/>
            <a:ext cx="609755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I.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2C8C2-215A-EA20-C5DF-CB684B40D521}"/>
              </a:ext>
            </a:extLst>
          </p:cNvPr>
          <p:cNvSpPr txBox="1"/>
          <p:nvPr/>
        </p:nvSpPr>
        <p:spPr>
          <a:xfrm>
            <a:off x="438539" y="746449"/>
            <a:ext cx="7875840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Problem: Understand Amazon Gift Card reviews for support triage</a:t>
            </a:r>
          </a:p>
          <a:p>
            <a:r>
              <a:t>- Task A: Sentiment classification (Negative/Positive/Uncertain).</a:t>
            </a:r>
          </a:p>
          <a:p>
            <a:r>
              <a:t>- Task B: Issue extraction (9-label multi-label).</a:t>
            </a:r>
          </a:p>
          <a:p>
            <a:r>
              <a:t>- Policy: negative-first (missing negative is high-cost).</a:t>
            </a:r>
          </a:p>
          <a:p>
            <a:r>
              <a:t>- NLP focus: noisy short text, negation, contrast, abbreviation.</a:t>
            </a:r>
          </a:p>
        </p:txBody>
      </p:sp>
    </p:spTree>
    <p:extLst>
      <p:ext uri="{BB962C8B-B14F-4D97-AF65-F5344CB8AC3E}">
        <p14:creationId xmlns:p14="http://schemas.microsoft.com/office/powerpoint/2010/main" val="70110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4C3F0-3DF4-9D22-A727-27B39E16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7FBE83E-A3A6-7E03-62D1-51A3D42D7D84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B4802C-5EDB-08CE-C03B-939BA6E3663C}"/>
              </a:ext>
            </a:extLst>
          </p:cNvPr>
          <p:cNvSpPr txBox="1"/>
          <p:nvPr/>
        </p:nvSpPr>
        <p:spPr>
          <a:xfrm>
            <a:off x="345232" y="0"/>
            <a:ext cx="1004440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II. Project Scope and Main Contribution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1B5F4-3190-C3D6-C9C9-43D956696D55}"/>
              </a:ext>
            </a:extLst>
          </p:cNvPr>
          <p:cNvSpPr txBox="1"/>
          <p:nvPr/>
        </p:nvSpPr>
        <p:spPr>
          <a:xfrm>
            <a:off x="438538" y="843447"/>
            <a:ext cx="8208899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Reproducible NLP pipeline: cleaning + negation + TF-IDF + Chi-square.</a:t>
            </a:r>
          </a:p>
          <a:p>
            <a:r>
              <a:t>2. Strong classic baseline (V6) with uncertainty control.</a:t>
            </a:r>
          </a:p>
          <a:p>
            <a:r>
              <a:t>3. Multi-label issue models (OVR LR/SVM/Blend + dummy sanity baselines).</a:t>
            </a:r>
          </a:p>
          <a:p>
            <a:r>
              <a:t>4. Transformer sentiment extension + fair-split issue comparison.</a:t>
            </a:r>
          </a:p>
          <a:p>
            <a:r>
              <a:t>5. Syllabus-aligned baseline suite (NB, Perceptron, SVM, FFNN, RNN, Transformer, MLM).</a:t>
            </a:r>
          </a:p>
        </p:txBody>
      </p:sp>
    </p:spTree>
    <p:extLst>
      <p:ext uri="{BB962C8B-B14F-4D97-AF65-F5344CB8AC3E}">
        <p14:creationId xmlns:p14="http://schemas.microsoft.com/office/powerpoint/2010/main" val="220784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55D9-0D3D-F41B-A112-67BACE05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4A3427-C7D5-EBE6-6A77-7649D8454A91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1BD8DA-6FE4-43E8-0CFB-D8398356EBF2}"/>
              </a:ext>
            </a:extLst>
          </p:cNvPr>
          <p:cNvSpPr txBox="1"/>
          <p:nvPr/>
        </p:nvSpPr>
        <p:spPr>
          <a:xfrm>
            <a:off x="345233" y="42290"/>
            <a:ext cx="101237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III. Data and Label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C1E4B-46F2-186B-C9C5-5E25FF841E87}"/>
              </a:ext>
            </a:extLst>
          </p:cNvPr>
          <p:cNvSpPr txBox="1"/>
          <p:nvPr/>
        </p:nvSpPr>
        <p:spPr>
          <a:xfrm>
            <a:off x="438539" y="680394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Dataset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A02486-67BA-CDC0-459B-4B3F5B23C2CC}"/>
              </a:ext>
            </a:extLst>
          </p:cNvPr>
          <p:cNvSpPr txBox="1"/>
          <p:nvPr/>
        </p:nvSpPr>
        <p:spPr>
          <a:xfrm>
            <a:off x="438539" y="1047301"/>
            <a:ext cx="68674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152,410 reviews</a:t>
            </a:r>
          </a:p>
          <a:p>
            <a:r>
              <a:t>- Strong-label sentiment rows: 149,139</a:t>
            </a:r>
          </a:p>
          <a:p>
            <a:r>
              <a:t>- Positive: 134,940 | Negative: 14,199 (approx 9.5:1)</a:t>
            </a:r>
          </a:p>
          <a:p>
            <a:r>
              <a:t>- Short/noisy text: abbreviations, negation, mixed polarity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096A85-BEA1-B74F-68EE-24DD7C4370DE}"/>
              </a:ext>
            </a:extLst>
          </p:cNvPr>
          <p:cNvSpPr txBox="1"/>
          <p:nvPr/>
        </p:nvSpPr>
        <p:spPr>
          <a:xfrm>
            <a:off x="438539" y="240855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2. Stage 1 - Sentiment Split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6C4B2-EA2F-1AA2-1ECF-A67AF2E2FD57}"/>
              </a:ext>
            </a:extLst>
          </p:cNvPr>
          <p:cNvSpPr txBox="1"/>
          <p:nvPr/>
        </p:nvSpPr>
        <p:spPr>
          <a:xfrm>
            <a:off x="438539" y="2828835"/>
            <a:ext cx="57594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Strong labels only (1,2,4,5):</a:t>
            </a:r>
          </a:p>
          <a:p>
            <a:r>
              <a:t>- 70% Train / 10% Validation / 20% Test</a:t>
            </a:r>
          </a:p>
          <a:p>
            <a:r>
              <a:t>- 3-star held for uncertainty analysis</a:t>
            </a:r>
          </a:p>
          <a:p>
            <a:r>
              <a:t>- Stratified split, seed = 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89044-3F96-0D5F-C653-CE9FEDE1BD59}"/>
              </a:ext>
            </a:extLst>
          </p:cNvPr>
          <p:cNvSpPr txBox="1"/>
          <p:nvPr/>
        </p:nvSpPr>
        <p:spPr>
          <a:xfrm>
            <a:off x="438539" y="4339786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3. Stage 2 - Issue Labels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C72FFF-9B49-268A-6BFD-0CA8FA4815CD}"/>
              </a:ext>
            </a:extLst>
          </p:cNvPr>
          <p:cNvSpPr txBox="1"/>
          <p:nvPr/>
        </p:nvSpPr>
        <p:spPr>
          <a:xfrm>
            <a:off x="438539" y="4801451"/>
            <a:ext cx="64618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19,000 annotated reviews</a:t>
            </a:r>
          </a:p>
          <a:p>
            <a:r>
              <a:t>- 9 issue labels (multi-label)</a:t>
            </a:r>
          </a:p>
          <a:p>
            <a:r>
              <a:t>- Split: 13,300 / 1,900 / 3,800</a:t>
            </a:r>
          </a:p>
          <a:p>
            <a:r>
              <a:t>- Label cardinality approx 1.07; other dominates (~84%)</a:t>
            </a:r>
          </a:p>
        </p:txBody>
      </p:sp>
      <p:pic>
        <p:nvPicPr>
          <p:cNvPr id="3" name="Picture 2" descr="fig1_rating_distribution.png">
            <a:extLst>
              <a:ext uri="{FF2B5EF4-FFF2-40B4-BE49-F238E27FC236}">
                <a16:creationId xmlns:a16="http://schemas.microsoft.com/office/drawing/2014/main" id="{1A01B55A-ADAE-E718-211A-B7A216C13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481" y="1832131"/>
            <a:ext cx="5209910" cy="390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1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8F8F-A01C-1D97-5822-1C9352236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D2644A0-02B9-A54D-C542-248CCAB17442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EC3DCE-F13C-D61B-FF25-07E340B355C1}"/>
              </a:ext>
            </a:extLst>
          </p:cNvPr>
          <p:cNvSpPr txBox="1"/>
          <p:nvPr/>
        </p:nvSpPr>
        <p:spPr>
          <a:xfrm>
            <a:off x="354563" y="33202"/>
            <a:ext cx="609755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IV. System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AF2F1-51DA-515F-8055-C4CA726ABF6A}"/>
              </a:ext>
            </a:extLst>
          </p:cNvPr>
          <p:cNvSpPr txBox="1"/>
          <p:nvPr/>
        </p:nvSpPr>
        <p:spPr>
          <a:xfrm>
            <a:off x="438538" y="871426"/>
            <a:ext cx="11753462" cy="21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Stage 1 (Sentiment): clean text -&gt; TF-IDF variants -&gt; Chi-square -&gt; Logistic Regression</a:t>
            </a:r>
          </a:p>
          <a:p>
            <a:r>
              <a:t>- Variant search V0..V7 (word/char/negation/clause features)</a:t>
            </a:r>
          </a:p>
          <a:p>
            <a:r>
              <a:t>- Selection policy: Recall_0 -&gt; F2_0 -&gt; Precision_0</a:t>
            </a:r>
          </a:p>
          <a:p>
            <a:r>
              <a:t>- Uncertainty band for abstention (coverage vs risk)</a:t>
            </a:r>
          </a:p>
          <a:p>
            <a:r>
              <a:t>- Stage 2 (Issue): OVR LR/SVM/Blend + per-label thresholds</a:t>
            </a:r>
          </a:p>
        </p:txBody>
      </p:sp>
    </p:spTree>
    <p:extLst>
      <p:ext uri="{BB962C8B-B14F-4D97-AF65-F5344CB8AC3E}">
        <p14:creationId xmlns:p14="http://schemas.microsoft.com/office/powerpoint/2010/main" val="3262987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17C9F-45ED-1461-F16F-B61B3577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20DF299-096E-819E-AEDF-A2679DAC869E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DF5A71-B620-C0B6-7A45-BAC6002298D7}"/>
              </a:ext>
            </a:extLst>
          </p:cNvPr>
          <p:cNvSpPr txBox="1"/>
          <p:nvPr/>
        </p:nvSpPr>
        <p:spPr>
          <a:xfrm>
            <a:off x="356117" y="0"/>
            <a:ext cx="113149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V. Experimental Protocol and Complexity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11B45-80BB-87C7-91AD-1A65EF6397DC}"/>
              </a:ext>
            </a:extLst>
          </p:cNvPr>
          <p:cNvSpPr txBox="1"/>
          <p:nvPr/>
        </p:nvSpPr>
        <p:spPr>
          <a:xfrm>
            <a:off x="356117" y="867143"/>
            <a:ext cx="10537960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Fixed seed 42; train-only fit for vectorizer/selector; held-out val/test</a:t>
            </a:r>
          </a:p>
          <a:p>
            <a:r>
              <a:t>- Metrics: Accuracy, Precision_0, Recall_0, F2_0, micro/macro-F1, hamming loss</a:t>
            </a:r>
          </a:p>
          <a:p>
            <a:r>
              <a:t>- Fair comparison added for issue: classic vs hybrid vs transformer</a:t>
            </a:r>
          </a:p>
          <a:p>
            <a:r>
              <a:t>- Quality gate: pytest 17 passed, 1 skipped</a:t>
            </a:r>
          </a:p>
          <a:p>
            <a:r>
              <a:t>- Runtime note: full transformer fine-tune ~55 minutes on CPU</a:t>
            </a:r>
          </a:p>
        </p:txBody>
      </p:sp>
    </p:spTree>
    <p:extLst>
      <p:ext uri="{BB962C8B-B14F-4D97-AF65-F5344CB8AC3E}">
        <p14:creationId xmlns:p14="http://schemas.microsoft.com/office/powerpoint/2010/main" val="31516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9AC99-CF88-1820-A50C-C1B37B17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5529C2-3B58-C74D-A250-5718F6A7F323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9D3E46A-220A-3CC2-E216-E8163AB8090B}"/>
              </a:ext>
            </a:extLst>
          </p:cNvPr>
          <p:cNvSpPr txBox="1"/>
          <p:nvPr/>
        </p:nvSpPr>
        <p:spPr>
          <a:xfrm>
            <a:off x="373224" y="21953"/>
            <a:ext cx="89480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VI. Evaluation and Discussion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823AB-9DDD-BC07-A95A-5508F87E50AF}"/>
              </a:ext>
            </a:extLst>
          </p:cNvPr>
          <p:cNvSpPr txBox="1"/>
          <p:nvPr/>
        </p:nvSpPr>
        <p:spPr>
          <a:xfrm>
            <a:off x="438539" y="863406"/>
            <a:ext cx="10479760" cy="21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Best classic sentiment (V6): Precision_0=0.678, Recall_0=0.932, F2_0=0.867</a:t>
            </a:r>
          </a:p>
          <a:p>
            <a:r>
              <a:t>- Transformer sentiment (latest test): Accuracy=0.966, Precision_0=0.799, Recall_0=0.853, F2_0=0.842</a:t>
            </a:r>
          </a:p>
          <a:p>
            <a:r>
              <a:t>- Issue (test 3,800): LR micro/macro=0.780/0.387; SVM=0.771/0.405</a:t>
            </a:r>
          </a:p>
          <a:p>
            <a:r>
              <a:t>- Dummy issue baseline: micro 0.809 but macro 0.101 (fails minority labels)</a:t>
            </a:r>
          </a:p>
        </p:txBody>
      </p:sp>
    </p:spTree>
    <p:extLst>
      <p:ext uri="{BB962C8B-B14F-4D97-AF65-F5344CB8AC3E}">
        <p14:creationId xmlns:p14="http://schemas.microsoft.com/office/powerpoint/2010/main" val="325985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BB56-DA27-3FE4-3C49-B47F0F1C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32A7E8-34B1-F7A8-C0C3-E7AA972BF751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43CE43-CF7A-43D8-83A5-41CDC67D6043}"/>
              </a:ext>
            </a:extLst>
          </p:cNvPr>
          <p:cNvSpPr txBox="1"/>
          <p:nvPr/>
        </p:nvSpPr>
        <p:spPr>
          <a:xfrm>
            <a:off x="410801" y="49288"/>
            <a:ext cx="90227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VII. Stage 1 Detailed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19BF9-3FFC-7EB6-00E9-B56E489ECE5C}"/>
              </a:ext>
            </a:extLst>
          </p:cNvPr>
          <p:cNvSpPr txBox="1"/>
          <p:nvPr/>
        </p:nvSpPr>
        <p:spPr>
          <a:xfrm>
            <a:off x="438539" y="2696356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Final Classic NLP Model (V6)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B210D-8AD1-F0CA-6922-54031B895A04}"/>
              </a:ext>
            </a:extLst>
          </p:cNvPr>
          <p:cNvSpPr txBox="1"/>
          <p:nvPr/>
        </p:nvSpPr>
        <p:spPr>
          <a:xfrm>
            <a:off x="438539" y="3158021"/>
            <a:ext cx="60975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Word 1-2 + Char 3-5 + Negation</a:t>
            </a:r>
          </a:p>
          <a:p>
            <a:r>
              <a:t>- K = 10,000 features</a:t>
            </a:r>
          </a:p>
          <a:p>
            <a:r>
              <a:t>- Class weight = w10</a:t>
            </a:r>
          </a:p>
          <a:p>
            <a:r>
              <a:t>- Test Recall_0 = 0.932</a:t>
            </a:r>
          </a:p>
          <a:p>
            <a:r>
              <a:t>- Test F2_0 = 0.867</a:t>
            </a:r>
          </a:p>
        </p:txBody>
      </p:sp>
      <p:pic>
        <p:nvPicPr>
          <p:cNvPr id="3" name="Picture 2" descr="fig2_chi_square_recall.png">
            <a:extLst>
              <a:ext uri="{FF2B5EF4-FFF2-40B4-BE49-F238E27FC236}">
                <a16:creationId xmlns:a16="http://schemas.microsoft.com/office/drawing/2014/main" id="{5730253F-33E3-DC18-EC3D-A5536229E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467" y="762029"/>
            <a:ext cx="3684036" cy="2763028"/>
          </a:xfrm>
          <a:prstGeom prst="rect">
            <a:avLst/>
          </a:prstGeom>
        </p:spPr>
      </p:pic>
      <p:pic>
        <p:nvPicPr>
          <p:cNvPr id="6" name="Picture 5" descr="fig3_variant_recall.png">
            <a:extLst>
              <a:ext uri="{FF2B5EF4-FFF2-40B4-BE49-F238E27FC236}">
                <a16:creationId xmlns:a16="http://schemas.microsoft.com/office/drawing/2014/main" id="{2C2A4B6D-7B1F-03F1-578C-EEEA78DCC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355" y="3688135"/>
            <a:ext cx="3518148" cy="26386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59CE8C-C609-DD21-6D2D-6034F6BC26EF}"/>
              </a:ext>
            </a:extLst>
          </p:cNvPr>
          <p:cNvSpPr txBox="1"/>
          <p:nvPr/>
        </p:nvSpPr>
        <p:spPr>
          <a:xfrm>
            <a:off x="407065" y="741785"/>
            <a:ext cx="4043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2. Chi-square and Variant 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10F49-CDA5-B834-7249-CB582B8344BB}"/>
              </a:ext>
            </a:extLst>
          </p:cNvPr>
          <p:cNvSpPr txBox="1"/>
          <p:nvPr/>
        </p:nvSpPr>
        <p:spPr>
          <a:xfrm>
            <a:off x="438539" y="1104632"/>
            <a:ext cx="57943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K=10,000 gives strongest negative-first trade-off.</a:t>
            </a:r>
          </a:p>
          <a:p>
            <a:r>
              <a:t>Top variants by F2_0:</a:t>
            </a:r>
          </a:p>
          <a:p>
            <a:r>
              <a:t>- V6: 0.867</a:t>
            </a:r>
          </a:p>
          <a:p>
            <a:r>
              <a:t>- V5: 0.860</a:t>
            </a:r>
          </a:p>
          <a:p>
            <a:r>
              <a:t>- V7: 0.859</a:t>
            </a:r>
          </a:p>
        </p:txBody>
      </p:sp>
    </p:spTree>
    <p:extLst>
      <p:ext uri="{BB962C8B-B14F-4D97-AF65-F5344CB8AC3E}">
        <p14:creationId xmlns:p14="http://schemas.microsoft.com/office/powerpoint/2010/main" val="104128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9BE16-2736-6E3C-3B30-B73FA293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4F35435-ED2C-1538-3474-1C7C353A1362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27664C-FED3-85D9-A1F6-FA7995714B99}"/>
              </a:ext>
            </a:extLst>
          </p:cNvPr>
          <p:cNvSpPr txBox="1"/>
          <p:nvPr/>
        </p:nvSpPr>
        <p:spPr>
          <a:xfrm>
            <a:off x="367783" y="25411"/>
            <a:ext cx="951722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VII. Stage 1 Detailed 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5FADEE-7D5E-5AEB-56DB-7BFF2F4C18E4}"/>
              </a:ext>
            </a:extLst>
          </p:cNvPr>
          <p:cNvSpPr txBox="1"/>
          <p:nvPr/>
        </p:nvSpPr>
        <p:spPr>
          <a:xfrm>
            <a:off x="367783" y="2782158"/>
            <a:ext cx="6097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Threshold band (0.40 / 0.60):</a:t>
            </a:r>
          </a:p>
          <a:p>
            <a:r>
              <a:t>- Coverage = 0.886</a:t>
            </a:r>
          </a:p>
          <a:p>
            <a:r>
              <a:t>- Selective Recall_0 = 0.954</a:t>
            </a:r>
          </a:p>
          <a:p>
            <a:r>
              <a:t>- Selective F2_0 = 0.899</a:t>
            </a:r>
          </a:p>
          <a:p>
            <a:r>
              <a:t>- Fallback for too-short / sparse 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3E898A-35C8-36C4-E32A-5478D8A10F28}"/>
              </a:ext>
            </a:extLst>
          </p:cNvPr>
          <p:cNvSpPr txBox="1"/>
          <p:nvPr/>
        </p:nvSpPr>
        <p:spPr>
          <a:xfrm>
            <a:off x="367783" y="2320493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3. Uncertainty Control</a:t>
            </a:r>
          </a:p>
        </p:txBody>
      </p:sp>
      <p:pic>
        <p:nvPicPr>
          <p:cNvPr id="8" name="Picture 7" descr="fig4_threshold_tradeoff.png">
            <a:extLst>
              <a:ext uri="{FF2B5EF4-FFF2-40B4-BE49-F238E27FC236}">
                <a16:creationId xmlns:a16="http://schemas.microsoft.com/office/drawing/2014/main" id="{EA286709-0AA8-0021-6548-32C3BDDE6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05112"/>
            <a:ext cx="5486400" cy="411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088B49-CE5A-6C6A-F15D-B8AF01BD904A}"/>
              </a:ext>
            </a:extLst>
          </p:cNvPr>
          <p:cNvSpPr txBox="1"/>
          <p:nvPr/>
        </p:nvSpPr>
        <p:spPr>
          <a:xfrm>
            <a:off x="367783" y="1120965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Random Forest baseline:</a:t>
            </a:r>
          </a:p>
          <a:p>
            <a:r>
              <a:t>- Precision_0 is high (~0.903)</a:t>
            </a:r>
          </a:p>
          <a:p>
            <a:r>
              <a:t>- Recall_0 is low (~0.486)</a:t>
            </a:r>
          </a:p>
          <a:p>
            <a:r>
              <a:t>=&gt; misses many negative reviews; risky for triage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79979-BE08-7D75-9E52-BC541731677E}"/>
              </a:ext>
            </a:extLst>
          </p:cNvPr>
          <p:cNvSpPr txBox="1"/>
          <p:nvPr/>
        </p:nvSpPr>
        <p:spPr>
          <a:xfrm>
            <a:off x="367783" y="74644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4. Why Not Tree Ensembles?</a:t>
            </a:r>
          </a:p>
        </p:txBody>
      </p:sp>
    </p:spTree>
    <p:extLst>
      <p:ext uri="{BB962C8B-B14F-4D97-AF65-F5344CB8AC3E}">
        <p14:creationId xmlns:p14="http://schemas.microsoft.com/office/powerpoint/2010/main" val="3879758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C432-4691-0A73-60BF-A676BFBB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21D8DD-1F76-54FB-2807-05266DC186D6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F49A1C-0377-0D10-6D2D-6F13A7CCCA5F}"/>
              </a:ext>
            </a:extLst>
          </p:cNvPr>
          <p:cNvSpPr txBox="1"/>
          <p:nvPr/>
        </p:nvSpPr>
        <p:spPr>
          <a:xfrm>
            <a:off x="373224" y="49288"/>
            <a:ext cx="989044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VIII. Stage 2 Detailed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C27A4-97BF-A16D-1E72-F1694AD5B6A9}"/>
              </a:ext>
            </a:extLst>
          </p:cNvPr>
          <p:cNvSpPr txBox="1"/>
          <p:nvPr/>
        </p:nvSpPr>
        <p:spPr>
          <a:xfrm>
            <a:off x="428939" y="718472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Overall Performance (Issue Extraction)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E63EBE-28AB-1B06-8DC6-2E330BA33CE0}"/>
              </a:ext>
            </a:extLst>
          </p:cNvPr>
          <p:cNvSpPr txBox="1"/>
          <p:nvPr/>
        </p:nvSpPr>
        <p:spPr>
          <a:xfrm>
            <a:off x="428938" y="1075872"/>
            <a:ext cx="63230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OVR Logistic: micro=0.780, macro=0.387, subset=0.634</a:t>
            </a:r>
          </a:p>
          <a:p>
            <a:r>
              <a:t>- OVR LinearSVM: micro=0.771, macro=0.405</a:t>
            </a:r>
          </a:p>
          <a:p>
            <a:r>
              <a:t>- OVR Blend LR+SVM: micro=0.768, macro=0.391</a:t>
            </a:r>
          </a:p>
          <a:p>
            <a:r>
              <a:t>- Main gap: minority labels remain weak (macro &lt; 0.41)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8A572-079C-63E5-DA5F-38D3E632B22E}"/>
              </a:ext>
            </a:extLst>
          </p:cNvPr>
          <p:cNvSpPr txBox="1"/>
          <p:nvPr/>
        </p:nvSpPr>
        <p:spPr>
          <a:xfrm>
            <a:off x="428937" y="261129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2. Fair-Split Comparison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76A49C-DDD7-6E40-9C1F-56B85C14B4AF}"/>
              </a:ext>
            </a:extLst>
          </p:cNvPr>
          <p:cNvSpPr txBox="1"/>
          <p:nvPr/>
        </p:nvSpPr>
        <p:spPr>
          <a:xfrm>
            <a:off x="438539" y="2974954"/>
            <a:ext cx="62634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classic_issue_model: micro=0.792, macro=0.528</a:t>
            </a:r>
          </a:p>
          <a:p>
            <a:r>
              <a:t>- hybrid_route: micro=0.730, macro=0.338</a:t>
            </a:r>
          </a:p>
          <a:p>
            <a:r>
              <a:t>- transformer_multilabel: micro=0.646, macro=0.188</a:t>
            </a:r>
          </a:p>
          <a:p>
            <a:r>
              <a:t>=&gt; classic remains strongest on current data</a:t>
            </a:r>
          </a:p>
        </p:txBody>
      </p:sp>
      <p:pic>
        <p:nvPicPr>
          <p:cNvPr id="3" name="Picture 2" descr="fig5_stage2_overall.png">
            <a:extLst>
              <a:ext uri="{FF2B5EF4-FFF2-40B4-BE49-F238E27FC236}">
                <a16:creationId xmlns:a16="http://schemas.microsoft.com/office/drawing/2014/main" id="{2CF1B5C9-1E81-BFE1-6C77-003C8A71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53" y="789797"/>
            <a:ext cx="3879440" cy="2909580"/>
          </a:xfrm>
          <a:prstGeom prst="rect">
            <a:avLst/>
          </a:prstGeom>
        </p:spPr>
      </p:pic>
      <p:pic>
        <p:nvPicPr>
          <p:cNvPr id="6" name="Picture 5" descr="fig6_per_label_f1.png">
            <a:extLst>
              <a:ext uri="{FF2B5EF4-FFF2-40B4-BE49-F238E27FC236}">
                <a16:creationId xmlns:a16="http://schemas.microsoft.com/office/drawing/2014/main" id="{337024AB-DEB2-C96D-FE8E-FBF76E006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453" y="3699377"/>
            <a:ext cx="39624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7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9D94-8443-C272-6F95-8C4A8AA8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0105952-9A48-6EBC-E997-48047FFA1FA0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AE19F8-3066-52BE-6D29-06FC4A51A75B}"/>
              </a:ext>
            </a:extLst>
          </p:cNvPr>
          <p:cNvSpPr txBox="1"/>
          <p:nvPr/>
        </p:nvSpPr>
        <p:spPr>
          <a:xfrm>
            <a:off x="335901" y="0"/>
            <a:ext cx="1074886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IX. Practical Use and Deployment Notes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BF128-541D-E864-FFD9-F7D3AA6546A9}"/>
              </a:ext>
            </a:extLst>
          </p:cNvPr>
          <p:cNvSpPr txBox="1"/>
          <p:nvPr/>
        </p:nvSpPr>
        <p:spPr>
          <a:xfrm>
            <a:off x="438538" y="746449"/>
            <a:ext cx="8027231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Saved artifacts: vectorizer, selector, models, thresholds, run metadata</a:t>
            </a:r>
          </a:p>
          <a:p>
            <a:r>
              <a:t>- CLI + UI demos ready; deterministic commands in README</a:t>
            </a:r>
          </a:p>
          <a:p>
            <a:r>
              <a:t>- Auto-generated scoreboard and rubric/syllabus assessment</a:t>
            </a:r>
          </a:p>
          <a:p>
            <a:r>
              <a:t>- Current rubric estimate: 18.04/20 (90.2%), syllabus fit: 94.3%</a:t>
            </a:r>
          </a:p>
        </p:txBody>
      </p:sp>
    </p:spTree>
    <p:extLst>
      <p:ext uri="{BB962C8B-B14F-4D97-AF65-F5344CB8AC3E}">
        <p14:creationId xmlns:p14="http://schemas.microsoft.com/office/powerpoint/2010/main" val="1679776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200E-D4B4-7CEA-26E8-9E296C3A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E61AC7-25C2-3AB6-DF1C-30BC900FE371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B96486F-EFD1-6F47-72DE-8CED9E683555}"/>
              </a:ext>
            </a:extLst>
          </p:cNvPr>
          <p:cNvSpPr txBox="1"/>
          <p:nvPr/>
        </p:nvSpPr>
        <p:spPr>
          <a:xfrm>
            <a:off x="377889" y="0"/>
            <a:ext cx="715657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X. Threats to Validity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2A926-F6C6-D5BA-66C7-4C861CBD7627}"/>
              </a:ext>
            </a:extLst>
          </p:cNvPr>
          <p:cNvSpPr txBox="1"/>
          <p:nvPr/>
        </p:nvSpPr>
        <p:spPr>
          <a:xfrm>
            <a:off x="377888" y="746449"/>
            <a:ext cx="9171839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Strong class imbalance in sentiment</a:t>
            </a:r>
          </a:p>
          <a:p>
            <a:r>
              <a:t>- Severe label imbalance in issue (other ~84%)</a:t>
            </a:r>
          </a:p>
          <a:p>
            <a:r>
              <a:t>- Label overlap exists (498 rows with other + another label)</a:t>
            </a:r>
          </a:p>
          <a:p>
            <a:r>
              <a:t>- Single product domain limits generalization</a:t>
            </a:r>
          </a:p>
          <a:p>
            <a:r>
              <a:t>- Transformer issue model underperforms on current split</a:t>
            </a:r>
          </a:p>
        </p:txBody>
      </p:sp>
    </p:spTree>
    <p:extLst>
      <p:ext uri="{BB962C8B-B14F-4D97-AF65-F5344CB8AC3E}">
        <p14:creationId xmlns:p14="http://schemas.microsoft.com/office/powerpoint/2010/main" val="3125851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954D-8BB1-3D69-B8F5-DD5E9D670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5A1F4F7-8E5C-E46E-D3AF-25766B44E979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F51F249-ED43-3BF4-A548-5AB71B0E15CC}"/>
              </a:ext>
            </a:extLst>
          </p:cNvPr>
          <p:cNvSpPr txBox="1"/>
          <p:nvPr/>
        </p:nvSpPr>
        <p:spPr>
          <a:xfrm>
            <a:off x="363894" y="49288"/>
            <a:ext cx="609755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XI.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922C9-5781-F204-9CBB-F80F4FD1848E}"/>
              </a:ext>
            </a:extLst>
          </p:cNvPr>
          <p:cNvSpPr txBox="1"/>
          <p:nvPr/>
        </p:nvSpPr>
        <p:spPr>
          <a:xfrm>
            <a:off x="363893" y="746449"/>
            <a:ext cx="9379613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NLP pipeline is reproducible and deployment-ready</a:t>
            </a:r>
          </a:p>
          <a:p>
            <a:r>
              <a:t>- Classic model is best for negative-first sentiment triage</a:t>
            </a:r>
          </a:p>
          <a:p>
            <a:r>
              <a:t>- Transformer adds context strength but is not full replacement yet</a:t>
            </a:r>
          </a:p>
          <a:p>
            <a:r>
              <a:t>- Priority next step: improve issue macro-F1 via minority-label quality</a:t>
            </a:r>
          </a:p>
        </p:txBody>
      </p:sp>
    </p:spTree>
    <p:extLst>
      <p:ext uri="{BB962C8B-B14F-4D97-AF65-F5344CB8AC3E}">
        <p14:creationId xmlns:p14="http://schemas.microsoft.com/office/powerpoint/2010/main" val="3198750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87B50A-5F97-9F3A-2677-11971B951F56}"/>
              </a:ext>
            </a:extLst>
          </p:cNvPr>
          <p:cNvSpPr/>
          <p:nvPr/>
        </p:nvSpPr>
        <p:spPr>
          <a:xfrm>
            <a:off x="10338318" y="0"/>
            <a:ext cx="1853682" cy="11010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EFE892-F184-ED10-97D1-45641B4D5350}"/>
              </a:ext>
            </a:extLst>
          </p:cNvPr>
          <p:cNvSpPr txBox="1"/>
          <p:nvPr/>
        </p:nvSpPr>
        <p:spPr>
          <a:xfrm>
            <a:off x="3130284" y="2644170"/>
            <a:ext cx="59314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85238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1006</Words>
  <Application>Microsoft Office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Đỗ Gia Bảo</dc:creator>
  <cp:lastModifiedBy>Thế Anh Bùi</cp:lastModifiedBy>
  <cp:revision>13</cp:revision>
  <dcterms:created xsi:type="dcterms:W3CDTF">2026-02-21T15:57:51Z</dcterms:created>
  <dcterms:modified xsi:type="dcterms:W3CDTF">2026-03-12T15:01:54Z</dcterms:modified>
</cp:coreProperties>
</file>